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Garamond"/>
      <p:regular r:id="rId25"/>
      <p:bold r:id="rId26"/>
      <p:italic r:id="rId27"/>
      <p:boldItalic r:id="rId28"/>
    </p:embeddedFont>
    <p:embeddedFont>
      <p:font typeface="Work Sans Medium"/>
      <p:regular r:id="rId29"/>
      <p:bold r:id="rId30"/>
      <p:italic r:id="rId31"/>
      <p:boldItalic r:id="rId32"/>
    </p:embeddedFont>
    <p:embeddedFont>
      <p:font typeface="Work Sans"/>
      <p:regular r:id="rId33"/>
      <p:bold r:id="rId34"/>
      <p:italic r:id="rId35"/>
      <p:boldItalic r:id="rId36"/>
    </p:embeddedFont>
    <p:embeddedFont>
      <p:font typeface="Work Sans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5TYyjfIm7jKQRF+C9sUEDnuG7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12C581-84E5-40D7-9AD3-7D9EDF01A1D0}">
  <a:tblStyle styleId="{2312C581-84E5-40D7-9AD3-7D9EDF01A1D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D02DBCE-1699-4312-BBC2-5E467AC1A58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bold.fntdata"/><Relationship Id="rId25" Type="http://schemas.openxmlformats.org/officeDocument/2006/relationships/font" Target="fonts/Garamond-regular.fntdata"/><Relationship Id="rId28" Type="http://schemas.openxmlformats.org/officeDocument/2006/relationships/font" Target="fonts/Garamond-boldItalic.fntdata"/><Relationship Id="rId27" Type="http://schemas.openxmlformats.org/officeDocument/2006/relationships/font" Target="fonts/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Medium-italic.fntdata"/><Relationship Id="rId30" Type="http://schemas.openxmlformats.org/officeDocument/2006/relationships/font" Target="fonts/WorkSansMedium-bold.fntdata"/><Relationship Id="rId11" Type="http://schemas.openxmlformats.org/officeDocument/2006/relationships/slide" Target="slides/slide6.xml"/><Relationship Id="rId33" Type="http://schemas.openxmlformats.org/officeDocument/2006/relationships/font" Target="fonts/WorkSans-regular.fntdata"/><Relationship Id="rId10" Type="http://schemas.openxmlformats.org/officeDocument/2006/relationships/slide" Target="slides/slide5.xml"/><Relationship Id="rId32" Type="http://schemas.openxmlformats.org/officeDocument/2006/relationships/font" Target="fonts/WorkSans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WorkSans-italic.fntdata"/><Relationship Id="rId12" Type="http://schemas.openxmlformats.org/officeDocument/2006/relationships/slide" Target="slides/slide7.xml"/><Relationship Id="rId34" Type="http://schemas.openxmlformats.org/officeDocument/2006/relationships/font" Target="fonts/WorkSans-bold.fntdata"/><Relationship Id="rId15" Type="http://schemas.openxmlformats.org/officeDocument/2006/relationships/slide" Target="slides/slide10.xml"/><Relationship Id="rId37" Type="http://schemas.openxmlformats.org/officeDocument/2006/relationships/font" Target="fonts/WorkSansLight-regular.fntdata"/><Relationship Id="rId14" Type="http://schemas.openxmlformats.org/officeDocument/2006/relationships/slide" Target="slides/slide9.xml"/><Relationship Id="rId36" Type="http://schemas.openxmlformats.org/officeDocument/2006/relationships/font" Target="fonts/WorkSans-boldItalic.fntdata"/><Relationship Id="rId17" Type="http://schemas.openxmlformats.org/officeDocument/2006/relationships/slide" Target="slides/slide12.xml"/><Relationship Id="rId39" Type="http://schemas.openxmlformats.org/officeDocument/2006/relationships/font" Target="fonts/WorkSansLight-italic.fntdata"/><Relationship Id="rId16" Type="http://schemas.openxmlformats.org/officeDocument/2006/relationships/slide" Target="slides/slide11.xml"/><Relationship Id="rId38" Type="http://schemas.openxmlformats.org/officeDocument/2006/relationships/font" Target="fonts/WorkSa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124675e72261f3a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7124675e72261f3a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7124675e72261f3a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124675e72261f3a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7124675e72261f3a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7124675e72261f3a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646eaa401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6646eaa401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726548cd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726548cd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726548cd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683fec26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683fec26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6683fec269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124675e72261f3a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7124675e72261f3a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7124675e72261f3a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646eaa401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646eaa401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6646eaa401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0868d57f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0868d57f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80868d57f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646eaa401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646eaa401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6646eaa401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815600" y="1843662"/>
            <a:ext cx="8560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PLATAFORMA WEB PARA EL CONTROL DEL PARQUEADERO DE CICLAS Y MOTOS, EN EL COMPLEJO SUR DEL SENA</a:t>
            </a:r>
            <a:endParaRPr b="1" i="0" sz="4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/>
        </p:nvSpPr>
        <p:spPr>
          <a:xfrm>
            <a:off x="3048006" y="2120699"/>
            <a:ext cx="6096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ANDRES SANTIAGO IGUA ROMERO</a:t>
            </a:r>
            <a:endParaRPr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ANGEL DAVID PRIETO MENESES</a:t>
            </a:r>
            <a:endParaRPr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BRAYAN SANTIAGO RUBIANO AVILA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2000">
                <a:latin typeface="Calibri"/>
                <a:ea typeface="Calibri"/>
                <a:cs typeface="Calibri"/>
                <a:sym typeface="Calibri"/>
              </a:rPr>
              <a:t>FICHA: 3278638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124675e72261f3a_6"/>
          <p:cNvSpPr/>
          <p:nvPr/>
        </p:nvSpPr>
        <p:spPr>
          <a:xfrm>
            <a:off x="2303950" y="3304838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y Objetivo general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7124675e72261f3a_6"/>
          <p:cNvSpPr/>
          <p:nvPr/>
        </p:nvSpPr>
        <p:spPr>
          <a:xfrm>
            <a:off x="6627925" y="3404425"/>
            <a:ext cx="321084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 y no funcionales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124675e72261f3a_6"/>
          <p:cNvSpPr/>
          <p:nvPr/>
        </p:nvSpPr>
        <p:spPr>
          <a:xfrm>
            <a:off x="6578650" y="1210063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124675e72261f3a_6"/>
          <p:cNvSpPr/>
          <p:nvPr/>
        </p:nvSpPr>
        <p:spPr>
          <a:xfrm>
            <a:off x="2303950" y="5587450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Pregunta Problema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124675e72261f3a_6"/>
          <p:cNvSpPr/>
          <p:nvPr/>
        </p:nvSpPr>
        <p:spPr>
          <a:xfrm>
            <a:off x="2303950" y="1309625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Logo y eslogan.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124675e72261f3a_6"/>
          <p:cNvSpPr/>
          <p:nvPr/>
        </p:nvSpPr>
        <p:spPr>
          <a:xfrm>
            <a:off x="2303950" y="2307238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7124675e72261f3a_6"/>
          <p:cNvSpPr/>
          <p:nvPr/>
        </p:nvSpPr>
        <p:spPr>
          <a:xfrm>
            <a:off x="6578650" y="2307238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Diagrama BPMN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7124675e72261f3a_6"/>
          <p:cNvSpPr/>
          <p:nvPr/>
        </p:nvSpPr>
        <p:spPr>
          <a:xfrm>
            <a:off x="2303950" y="4446138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7124675e72261f3a_6"/>
          <p:cNvSpPr txBox="1"/>
          <p:nvPr/>
        </p:nvSpPr>
        <p:spPr>
          <a:xfrm>
            <a:off x="4596000" y="-16650"/>
            <a:ext cx="30000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Índice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7124675e72261f3a_6"/>
          <p:cNvSpPr/>
          <p:nvPr/>
        </p:nvSpPr>
        <p:spPr>
          <a:xfrm>
            <a:off x="6578650" y="4501613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7124675e72261f3a_6"/>
          <p:cNvSpPr/>
          <p:nvPr/>
        </p:nvSpPr>
        <p:spPr>
          <a:xfrm>
            <a:off x="6578650" y="5598800"/>
            <a:ext cx="3309390" cy="707724"/>
          </a:xfrm>
          <a:prstGeom prst="flowChartTerminator">
            <a:avLst/>
          </a:prstGeom>
          <a:solidFill>
            <a:schemeClr val="lt1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Diagrama de Gantt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/>
        </p:nvSpPr>
        <p:spPr>
          <a:xfrm>
            <a:off x="4168816" y="3463724"/>
            <a:ext cx="38543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506" y="1945212"/>
            <a:ext cx="8490975" cy="160786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 txBox="1"/>
          <p:nvPr/>
        </p:nvSpPr>
        <p:spPr>
          <a:xfrm>
            <a:off x="3854842" y="4304773"/>
            <a:ext cx="448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“ SENA PARKING: organización y control a un clic.”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622224" y="355311"/>
            <a:ext cx="4608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s-MX" sz="44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Planteamiento del problema</a:t>
            </a:r>
            <a:endParaRPr b="0" i="0" sz="4400" u="none" cap="none" strike="noStrike">
              <a:solidFill>
                <a:srgbClr val="38AA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314400" y="1867799"/>
            <a:ext cx="3854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Ingreso desorganizado:</a:t>
            </a:r>
            <a:b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momento de ingresar bicicletas y motocicletas, se genera una gran acumulación de personas, ya que no existe un sistema eficiente de control. El acceso se limita a la verificación manual del carnet del aprendiz, lo cual impide llevar un conteo real y actualizado de los vehículos que entran a la institución.</a:t>
            </a:r>
            <a:b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168794" y="1858943"/>
            <a:ext cx="3854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2.Diligenciamiento de documentos:</a:t>
            </a:r>
            <a:b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realizar el registro de la bicicleta o motocicleta, los aprendices deben adquirir formatos en la papelería y entregarlos en portería. Este procedimiento resulta demorado e innecesariamente complejo, lo que retrasa el proceso de autorización de ingreso.</a:t>
            </a:r>
            <a:b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230475" y="1858943"/>
            <a:ext cx="3409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3.Falta de información clara:</a:t>
            </a:r>
            <a:b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Muchos aprendices desconocen los requisitos y documentos necesarios para obtener el carnet de ingreso del vehículo. La ausencia de un canal oficial y accesible de información genera confusión, pérdida de tiempo y repetición de trámites.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8011" y="4784650"/>
            <a:ext cx="4415975" cy="20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518058" y="2123498"/>
            <a:ext cx="7453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195600" y="2824803"/>
            <a:ext cx="609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SENA PARKING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organización y el control del ingreso de ciclas y motos en el SENA para reducir la desorganización en el ingreso, agilizar los trámites de registro y claridad en el proceso?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1852" y="1425817"/>
            <a:ext cx="2573163" cy="3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1353390" y="1268360"/>
            <a:ext cx="105156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0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353390" y="1944860"/>
            <a:ext cx="609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/>
              <a:t>SENA PARKING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abarcará el desarrollo  de una plataforma web para la gestión del parqueadero de bicicletas y motocicletas en el complejo sur del SENA ubicado en la Av Cra 30 #17-28, Bogotá.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353390" y="3519120"/>
            <a:ext cx="60987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MX" sz="40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</a:t>
            </a:r>
            <a:endParaRPr b="0" i="0" sz="40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354955" y="4226966"/>
            <a:ext cx="584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/>
              <a:t>Desarrollar una plataforma web llamada SENA PARKING para que mejore el registro, control y organización del ingreso de bicicletas y motocicletas en el complejo sur del SENA.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4446" y="2040894"/>
            <a:ext cx="3204925" cy="280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/>
        </p:nvSpPr>
        <p:spPr>
          <a:xfrm>
            <a:off x="533250" y="982275"/>
            <a:ext cx="11125500" cy="3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MX" sz="2100">
                <a:solidFill>
                  <a:schemeClr val="lt1"/>
                </a:solidFill>
              </a:rPr>
              <a:t>Incorporar un mecanismo de verificación digital a través de código QR y carnet digital que permita validar de manera rápida la autorización de ingreso al parqueadero.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MX" sz="2100">
                <a:solidFill>
                  <a:schemeClr val="lt1"/>
                </a:solidFill>
              </a:rPr>
              <a:t>Integrar un historial de uso para que los guardas puedan consultar los registros de ingreso y salida.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MX" sz="2100">
                <a:solidFill>
                  <a:schemeClr val="lt1"/>
                </a:solidFill>
              </a:rPr>
              <a:t>Implementar roles y permisos que asegure distintos niveles de acceso según el perfil del usuario (aprendices, administradores y guardas).</a:t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s-MX" sz="2000">
                <a:solidFill>
                  <a:schemeClr val="lt1"/>
                </a:solidFill>
              </a:rPr>
              <a:t>Permitir la actualización de información de los aprendices (cambio de vehículo, datos de contacto, etc.) de manera práctica y eficiente.</a:t>
            </a:r>
            <a:b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71111" y="788589"/>
            <a:ext cx="10515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124675e72261f3a_0"/>
          <p:cNvSpPr txBox="1"/>
          <p:nvPr/>
        </p:nvSpPr>
        <p:spPr>
          <a:xfrm>
            <a:off x="2062550" y="2081650"/>
            <a:ext cx="85581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2000"/>
              <a:t>Hacer u</a:t>
            </a: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s-MX" sz="2000"/>
              <a:t>a plataforma web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organizad</a:t>
            </a:r>
            <a:r>
              <a:rPr lang="es-MX" sz="2000"/>
              <a:t>a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digitalizando </a:t>
            </a:r>
            <a:r>
              <a:rPr lang="es-MX" sz="2000"/>
              <a:t>el</a:t>
            </a: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registro de ingreso y salida esto permitirá mejorar el control dentro del parqueadero, evitar grandes filas, contar con un protocolo claro de requisitos y documentación que esto reducirá la confusión entre los aprendices al momento de solicitar su parqueadero ya sea de cicla y/o moto.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no solo aportará beneficios en términos de  control, brindando a los aprendices un servicio de parqueadero más ágil, organizado y confiable</a:t>
            </a:r>
            <a:r>
              <a:rPr lang="es-MX" sz="2000"/>
              <a:t> </a:t>
            </a:r>
            <a:r>
              <a:rPr b="0" i="0" lang="es-MX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así mismo los aprendices podrán aprovechar más este beneficio que les da el SENA.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7124675e72261f3a_0"/>
          <p:cNvSpPr txBox="1"/>
          <p:nvPr/>
        </p:nvSpPr>
        <p:spPr>
          <a:xfrm>
            <a:off x="3292250" y="720842"/>
            <a:ext cx="609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/>
        </p:nvSpPr>
        <p:spPr>
          <a:xfrm>
            <a:off x="4816099" y="2458636"/>
            <a:ext cx="67921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-159500" y="149525"/>
            <a:ext cx="3837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BPMN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38" y="1230229"/>
            <a:ext cx="10322777" cy="41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5335200" y="4890375"/>
            <a:ext cx="1521600" cy="35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5247750" y="4988975"/>
            <a:ext cx="152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646eaa401_1_61"/>
          <p:cNvSpPr txBox="1"/>
          <p:nvPr/>
        </p:nvSpPr>
        <p:spPr>
          <a:xfrm>
            <a:off x="1072650" y="2618238"/>
            <a:ext cx="100467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5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RECOLECCIÓN</a:t>
            </a:r>
            <a:r>
              <a:rPr lang="es-MX" sz="5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DE INFORMACIÓN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8726548cd9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800" y="152400"/>
            <a:ext cx="9718150" cy="6553198"/>
          </a:xfrm>
          <a:prstGeom prst="rect">
            <a:avLst/>
          </a:prstGeom>
          <a:noFill/>
          <a:ln cap="flat" cmpd="sng" w="2286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00" y="152400"/>
            <a:ext cx="8737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6683fec269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00" y="152400"/>
            <a:ext cx="8737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124675e72261f3a_16"/>
          <p:cNvSpPr txBox="1"/>
          <p:nvPr>
            <p:ph type="title"/>
          </p:nvPr>
        </p:nvSpPr>
        <p:spPr>
          <a:xfrm>
            <a:off x="150425" y="12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/>
              <a:t>Requerimientos Funcionales </a:t>
            </a:r>
            <a:endParaRPr/>
          </a:p>
        </p:txBody>
      </p:sp>
      <p:pic>
        <p:nvPicPr>
          <p:cNvPr id="206" name="Google Shape;206;g7124675e72261f3a_16"/>
          <p:cNvPicPr preferRelativeResize="0"/>
          <p:nvPr/>
        </p:nvPicPr>
        <p:blipFill rotWithShape="1">
          <a:blip r:embed="rId3">
            <a:alphaModFix/>
          </a:blip>
          <a:srcRect b="35425" l="6956" r="5100" t="10081"/>
          <a:stretch/>
        </p:blipFill>
        <p:spPr>
          <a:xfrm>
            <a:off x="5118162" y="4887150"/>
            <a:ext cx="1955676" cy="181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7124675e72261f3a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700" y="2050875"/>
            <a:ext cx="4941304" cy="31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7124675e72261f3a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1239" y="2089288"/>
            <a:ext cx="4813362" cy="3053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646eaa401_1_12"/>
          <p:cNvSpPr txBox="1"/>
          <p:nvPr>
            <p:ph type="title"/>
          </p:nvPr>
        </p:nvSpPr>
        <p:spPr>
          <a:xfrm>
            <a:off x="271050" y="1252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/>
              <a:t>Requerimientos  No funcionales</a:t>
            </a:r>
            <a:endParaRPr/>
          </a:p>
        </p:txBody>
      </p:sp>
      <p:graphicFrame>
        <p:nvGraphicFramePr>
          <p:cNvPr id="215" name="Google Shape;215;g36646eaa401_1_12"/>
          <p:cNvGraphicFramePr/>
          <p:nvPr/>
        </p:nvGraphicFramePr>
        <p:xfrm>
          <a:off x="385305" y="2435388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{2312C581-84E5-40D7-9AD3-7D9EDF01A1D0}</a:tableStyleId>
              </a:tblPr>
              <a:tblGrid>
                <a:gridCol w="1337900"/>
                <a:gridCol w="3694950"/>
              </a:tblGrid>
              <a:tr h="59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Identificación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/>
                        <a:t>RNF 01</a:t>
                      </a:r>
                      <a:r>
                        <a:rPr lang="es-MX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Nombre del requerimiento: 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Seguridad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Características: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El sistema debe proteger la información de los usuarios mediante encriptación de datos y conexiones seguras.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Descripción del requerimiento: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El sistema garantizará la seguridad de los datos personales y de los vehículos, evitando accesos no autorizados mediante protocolos como SSL/HTTPS y cifrado en la base de datos.</a:t>
                      </a:r>
                      <a:endParaRPr sz="1200" u="none" cap="none" strike="noStrike"/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MX" sz="1200" u="none" cap="none" strike="noStrike"/>
                        <a:t>Prioridad del requerimiento: 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MX" sz="1200" u="none" cap="none" strike="noStrike"/>
                        <a:t>Alta.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g36646eaa401_1_12"/>
          <p:cNvGraphicFramePr/>
          <p:nvPr/>
        </p:nvGraphicFramePr>
        <p:xfrm>
          <a:off x="5894200" y="2435388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{4D02DBCE-1699-4312-BBC2-5E467AC1A580}</a:tableStyleId>
              </a:tblPr>
              <a:tblGrid>
                <a:gridCol w="1607550"/>
                <a:gridCol w="4439675"/>
              </a:tblGrid>
              <a:tr h="53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MX" sz="1200"/>
                        <a:t>Identificación del requerimiento: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200"/>
                        <a:t>RNF 02</a:t>
                      </a:r>
                      <a:r>
                        <a:rPr lang="es-MX" sz="1200"/>
                        <a:t>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MX" sz="1200"/>
                        <a:t>Nombre del requerimiento: 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200"/>
                        <a:t>Usabilidad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MX" sz="1200"/>
                        <a:t>Características: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MX" sz="1200"/>
                        <a:t>La plataforma debe ser fácil de usar para aprendices, guardas y administradores.</a:t>
                      </a:r>
                      <a:endParaRPr sz="1200"/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MX" sz="1200"/>
                        <a:t>Descripción del requerimiento: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MX" sz="1200"/>
                        <a:t>El sistema debe contar con una interfaz amigable, intuitiva y accesible desde dispositivos móviles y de escritorio, permitiendo a los usuarios realizar sus procesos sin dificultad.</a:t>
                      </a:r>
                      <a:endParaRPr sz="1200"/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-MX" sz="1200"/>
                        <a:t>Prioridad del requerimiento: 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MX" sz="1200"/>
                        <a:t> Media.</a:t>
                      </a:r>
                      <a:endParaRPr sz="1200"/>
                    </a:p>
                  </a:txBody>
                  <a:tcPr marT="0" marB="0" marR="44450" marL="4445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0868d57fb_0_1"/>
          <p:cNvSpPr txBox="1"/>
          <p:nvPr>
            <p:ph type="title"/>
          </p:nvPr>
        </p:nvSpPr>
        <p:spPr>
          <a:xfrm>
            <a:off x="150425" y="12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/>
              <a:t>Mockups</a:t>
            </a:r>
            <a:endParaRPr/>
          </a:p>
        </p:txBody>
      </p:sp>
      <p:sp>
        <p:nvSpPr>
          <p:cNvPr id="223" name="Google Shape;223;g380868d57fb_0_1"/>
          <p:cNvSpPr txBox="1"/>
          <p:nvPr/>
        </p:nvSpPr>
        <p:spPr>
          <a:xfrm>
            <a:off x="800850" y="6176275"/>
            <a:ext cx="105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80868d57f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475" y="1659675"/>
            <a:ext cx="8151050" cy="45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646eaa401_1_36"/>
          <p:cNvSpPr txBox="1"/>
          <p:nvPr>
            <p:ph type="title"/>
          </p:nvPr>
        </p:nvSpPr>
        <p:spPr>
          <a:xfrm>
            <a:off x="152400" y="4139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/>
              <a:t>Diagrama de Gantt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6646eaa401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4463"/>
            <a:ext cx="11887199" cy="3637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